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Cabin"/>
      <p:regular r:id="rId15"/>
      <p:bold r:id="rId16"/>
      <p:italic r:id="rId17"/>
      <p:boldItalic r:id="rId18"/>
    </p:embeddedFont>
    <p:embeddedFont>
      <p:font typeface="Unbounde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nbounde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abin-regular.fntdata"/><Relationship Id="rId14" Type="http://schemas.openxmlformats.org/officeDocument/2006/relationships/slide" Target="slides/slide10.xml"/><Relationship Id="rId17" Type="http://schemas.openxmlformats.org/officeDocument/2006/relationships/font" Target="fonts/Cabin-italic.fntdata"/><Relationship Id="rId16" Type="http://schemas.openxmlformats.org/officeDocument/2006/relationships/font" Target="fonts/Cabin-bold.fntdata"/><Relationship Id="rId5" Type="http://schemas.openxmlformats.org/officeDocument/2006/relationships/slide" Target="slides/slide1.xml"/><Relationship Id="rId19" Type="http://schemas.openxmlformats.org/officeDocument/2006/relationships/font" Target="fonts/Unbounded-regular.fntdata"/><Relationship Id="rId6" Type="http://schemas.openxmlformats.org/officeDocument/2006/relationships/slide" Target="slides/slide2.xml"/><Relationship Id="rId18" Type="http://schemas.openxmlformats.org/officeDocument/2006/relationships/font" Target="fonts/Cabin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16.png"/><Relationship Id="rId5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837724" y="778193"/>
            <a:ext cx="3565088" cy="449818"/>
          </a:xfrm>
          <a:prstGeom prst="roundRect">
            <a:avLst>
              <a:gd fmla="val 6386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981313" y="849987"/>
            <a:ext cx="3277910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00"/>
              <a:buFont typeface="Cabin"/>
              <a:buNone/>
            </a:pPr>
            <a:r>
              <a:rPr b="0" i="0" lang="en-US" sz="15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NIŞANTAŞI ÜNIVERSITESI · 02.04.2026</a:t>
            </a:r>
            <a:endParaRPr b="0" i="0" sz="15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837724" y="1323737"/>
            <a:ext cx="7468553" cy="211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UYAP 2.0 ve Prosedürel Uyum Muhafızı</a:t>
            </a:r>
            <a:endParaRPr b="0" i="0" sz="44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837724" y="3794760"/>
            <a:ext cx="7468553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0"/>
              <a:buFont typeface="Unbounded"/>
              <a:buNone/>
            </a:pPr>
            <a:r>
              <a:rPr b="0" i="0" lang="en-US" sz="61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Yapay Zekâ Destekli Adalet Dönüşümü</a:t>
            </a:r>
            <a:endParaRPr b="0" i="0" sz="610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837724" y="706838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Mehmet ALBAYRAK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· Nişantaşı Üniversitesi Yapay Zekâ Bölümü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364099" y="524589"/>
            <a:ext cx="1652945" cy="331946"/>
          </a:xfrm>
          <a:prstGeom prst="roundRect">
            <a:avLst>
              <a:gd fmla="val 6626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481614" y="587097"/>
            <a:ext cx="1417915" cy="206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LITERATÜR TARAMASI</a:t>
            </a:r>
            <a:endParaRPr b="0" i="0" sz="115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1364099" y="912614"/>
            <a:ext cx="7952065" cy="538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50"/>
              <a:buFont typeface="Unbounded"/>
              <a:buNone/>
            </a:pPr>
            <a:r>
              <a:rPr b="0" i="0" lang="en-US" sz="3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Son 3 Yılda Yargıda Yapay Zekâ</a:t>
            </a:r>
            <a:endParaRPr b="0" i="0" sz="3350" u="none" cap="none" strike="noStrike"/>
          </a:p>
        </p:txBody>
      </p:sp>
      <p:pic>
        <p:nvPicPr>
          <p:cNvPr descr="preencoded.png" id="70" name="Google Shape;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099" y="1819751"/>
            <a:ext cx="5727502" cy="5727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099" y="1819751"/>
            <a:ext cx="5727502" cy="572750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7546181" y="3210044"/>
            <a:ext cx="2347912" cy="26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Unbounded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Küresel Gelişmeler</a:t>
            </a:r>
            <a:endParaRPr b="0" i="0" sz="16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546181" y="3619738"/>
            <a:ext cx="5727502" cy="14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AB AI Act (2024):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Yargı sistemleri "yüksek riskli AI" kategorisinde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CEPEJ Etik Şartı: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5 temel ilke, insan denetimi zorunlu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Legal NLP: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LegalBERT, CaseHOLD, RAG mimarisi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Süreç Madenciliği: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Yargı süreçlerine anomali tespiti uygulanmaya başlandı</a:t>
            </a:r>
            <a:endParaRPr b="0" i="0" sz="14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546181" y="5218271"/>
            <a:ext cx="5727502" cy="921187"/>
          </a:xfrm>
          <a:prstGeom prst="roundRect">
            <a:avLst>
              <a:gd fmla="val 2984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9418" y="5477351"/>
            <a:ext cx="229076" cy="18323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8141732" y="5404247"/>
            <a:ext cx="4948714" cy="517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Proje Açığı: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Türkçe hukuk alanında olgun bir Legal NLP modeli veya usul denetimi modülü henüz bulunmamaktadır.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837724" y="922496"/>
            <a:ext cx="1401961" cy="465058"/>
          </a:xfrm>
          <a:prstGeom prst="roundRect">
            <a:avLst>
              <a:gd fmla="val 6177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988933" y="1001911"/>
            <a:ext cx="1099542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500"/>
              <a:buFont typeface="Cabin"/>
              <a:buNone/>
            </a:pPr>
            <a:r>
              <a:rPr b="0" i="0" lang="en-US" sz="150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VERI ANALIZI</a:t>
            </a:r>
            <a:endParaRPr b="0" i="0" sz="150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837724" y="1483281"/>
            <a:ext cx="7180421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Veri Kümesinin Analizi</a:t>
            </a:r>
            <a:endParaRPr b="0" i="0" sz="4400" u="none" cap="none" strike="noStrike"/>
          </a:p>
        </p:txBody>
      </p:sp>
      <p:pic>
        <p:nvPicPr>
          <p:cNvPr descr="preencoded.png"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2891671"/>
            <a:ext cx="6185535" cy="382404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5242084" y="4216718"/>
            <a:ext cx="1044892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5424" y="4253270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5417344" y="4239578"/>
            <a:ext cx="816293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İcra Davaları·35%</a:t>
            </a:r>
            <a:endParaRPr b="0" i="0" sz="7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5955387" y="4239578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·35%</a:t>
            </a:r>
            <a:endParaRPr b="0" i="0" sz="70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5991939" y="4239578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5242084" y="4442222"/>
            <a:ext cx="1270397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5424" y="4478774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5417344" y="4465082"/>
            <a:ext cx="104179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Tazminat Davaları·25%</a:t>
            </a:r>
            <a:endParaRPr b="0" i="0" sz="70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6180892" y="4465082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·25%</a:t>
            </a:r>
            <a:endParaRPr b="0" i="0" sz="70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6217444" y="4465082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5242084" y="4667726"/>
            <a:ext cx="1050131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5424" y="4704278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5417344" y="4690586"/>
            <a:ext cx="821531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Kira Davaları·15%</a:t>
            </a:r>
            <a:endParaRPr b="0" i="0" sz="70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5960626" y="4690586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·15%</a:t>
            </a:r>
            <a:endParaRPr b="0" i="0" sz="700" u="none" cap="none" strike="noStrike"/>
          </a:p>
        </p:txBody>
      </p:sp>
      <p:sp>
        <p:nvSpPr>
          <p:cNvPr id="100" name="Google Shape;100;p15"/>
          <p:cNvSpPr/>
          <p:nvPr/>
        </p:nvSpPr>
        <p:spPr>
          <a:xfrm>
            <a:off x="5997178" y="4690586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5242084" y="4893231"/>
            <a:ext cx="1056799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5424" y="4929783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5417344" y="4916091"/>
            <a:ext cx="82819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Asliye Hukuk·12%</a:t>
            </a:r>
            <a:endParaRPr b="0" i="0" sz="70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5967293" y="4916091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·12%</a:t>
            </a:r>
            <a:endParaRPr b="0" i="0" sz="70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6003846" y="4916091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5242084" y="5118735"/>
            <a:ext cx="1283256" cy="164544"/>
          </a:xfrm>
          <a:prstGeom prst="roundRect">
            <a:avLst>
              <a:gd fmla="val 77800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101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95424" y="5155287"/>
            <a:ext cx="91440" cy="91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417344" y="5141595"/>
            <a:ext cx="1054656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Diğer Dava Türleri·13%</a:t>
            </a:r>
            <a:endParaRPr b="0" i="0" sz="70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6193750" y="5141595"/>
            <a:ext cx="278249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·13%</a:t>
            </a:r>
            <a:endParaRPr b="0" i="0" sz="700" u="none" cap="none" strike="noStrike"/>
          </a:p>
        </p:txBody>
      </p:sp>
      <p:sp>
        <p:nvSpPr>
          <p:cNvPr id="110" name="Google Shape;110;p15"/>
          <p:cNvSpPr/>
          <p:nvPr/>
        </p:nvSpPr>
        <p:spPr>
          <a:xfrm>
            <a:off x="6230303" y="5141595"/>
            <a:ext cx="24527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AD6DE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70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7614761" y="278558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Veri Kaynakları</a:t>
            </a:r>
            <a:endParaRPr b="0" i="0" sz="220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7614761" y="3376851"/>
            <a:ext cx="6185535" cy="1316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Yıllık </a:t>
            </a: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~12 milyon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dava dosyası (PDF/UDF)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~500 bin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Yargıtay kararı + mevzuat metinleri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Char char="•"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Olay günlükleri: işlem sırası, zaman damgaları, kullanıcı ID</a:t>
            </a:r>
            <a:endParaRPr b="0" i="0" sz="1850" u="none" cap="none" strike="noStrike"/>
          </a:p>
        </p:txBody>
      </p:sp>
      <p:sp>
        <p:nvSpPr>
          <p:cNvPr id="113" name="Google Shape;113;p15"/>
          <p:cNvSpPr/>
          <p:nvPr/>
        </p:nvSpPr>
        <p:spPr>
          <a:xfrm>
            <a:off x="7614761" y="493264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Temel Sorunlar</a:t>
            </a:r>
            <a:endParaRPr b="0" i="0" sz="2200" u="none" cap="none" strike="noStrike"/>
          </a:p>
        </p:txBody>
      </p:sp>
      <p:sp>
        <p:nvSpPr>
          <p:cNvPr id="114" name="Google Shape;114;p15"/>
          <p:cNvSpPr/>
          <p:nvPr/>
        </p:nvSpPr>
        <p:spPr>
          <a:xfrm>
            <a:off x="7614761" y="5523905"/>
            <a:ext cx="6185535" cy="1699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Eksik Değerler: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OCR hataları, boş metadata alanları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Dengesizlik: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Usul ihlalleri &lt;%1; asliye hukuk baskın</a:t>
            </a:r>
            <a:endParaRPr b="0" i="0" sz="1850" u="none" cap="none" strike="noStrike"/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1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KVKK Uyumlu Anonimleştirme:</a:t>
            </a: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k-anonimlik (k=5) + diferansiyel gizlilik (ε=0.1)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6010037" y="463272"/>
            <a:ext cx="1385530" cy="260271"/>
          </a:xfrm>
          <a:prstGeom prst="roundRect">
            <a:avLst>
              <a:gd fmla="val 6898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107311" y="515660"/>
            <a:ext cx="1190982" cy="155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900"/>
              <a:buFont typeface="Cabin"/>
              <a:buNone/>
            </a:pPr>
            <a:r>
              <a:rPr b="0" i="0" lang="en-US" sz="90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BASELINE SONUÇLARI</a:t>
            </a:r>
            <a:endParaRPr b="0" i="0" sz="900" u="none" cap="none" strike="noStrike"/>
          </a:p>
        </p:txBody>
      </p:sp>
      <p:sp>
        <p:nvSpPr>
          <p:cNvPr id="123" name="Google Shape;123;p16"/>
          <p:cNvSpPr/>
          <p:nvPr/>
        </p:nvSpPr>
        <p:spPr>
          <a:xfrm>
            <a:off x="6010037" y="760928"/>
            <a:ext cx="8096726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Unbounded"/>
              <a:buNone/>
            </a:pPr>
            <a:r>
              <a:rPr b="0" i="0" lang="en-US" sz="27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Mevcut Durum: Performans Kıyaslaması</a:t>
            </a:r>
            <a:endParaRPr b="0" i="0" sz="275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6010037" y="1856065"/>
            <a:ext cx="8096726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850"/>
              <a:buFont typeface="Unbounded"/>
              <a:buNone/>
            </a:pPr>
            <a:r>
              <a:rPr b="0" i="0" lang="en-US" sz="3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%38</a:t>
            </a:r>
            <a:endParaRPr b="0" i="0" sz="385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9178290" y="2494598"/>
            <a:ext cx="1760101" cy="21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Precision@10</a:t>
            </a:r>
            <a:endParaRPr b="0" i="0" sz="1350" u="none" cap="none" strike="noStrike"/>
          </a:p>
        </p:txBody>
      </p:sp>
      <p:sp>
        <p:nvSpPr>
          <p:cNvPr id="126" name="Google Shape;126;p16"/>
          <p:cNvSpPr/>
          <p:nvPr/>
        </p:nvSpPr>
        <p:spPr>
          <a:xfrm>
            <a:off x="6010037" y="2770584"/>
            <a:ext cx="80967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Mevcut UYAP SQL arama</a:t>
            </a:r>
            <a:endParaRPr b="0" i="0" sz="1150" u="none" cap="none" strike="noStrike"/>
          </a:p>
        </p:txBody>
      </p:sp>
      <p:sp>
        <p:nvSpPr>
          <p:cNvPr id="127" name="Google Shape;127;p16"/>
          <p:cNvSpPr/>
          <p:nvPr/>
        </p:nvSpPr>
        <p:spPr>
          <a:xfrm>
            <a:off x="6010037" y="3226832"/>
            <a:ext cx="8096726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850"/>
              <a:buFont typeface="Unbounded"/>
              <a:buNone/>
            </a:pPr>
            <a:r>
              <a:rPr b="0" i="0" lang="en-US" sz="3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%42</a:t>
            </a:r>
            <a:endParaRPr b="0" i="0" sz="3850" u="none" cap="none" strike="noStrike"/>
          </a:p>
        </p:txBody>
      </p:sp>
      <p:sp>
        <p:nvSpPr>
          <p:cNvPr id="128" name="Google Shape;128;p16"/>
          <p:cNvSpPr/>
          <p:nvPr/>
        </p:nvSpPr>
        <p:spPr>
          <a:xfrm>
            <a:off x="9178290" y="3865364"/>
            <a:ext cx="1760101" cy="21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Recall@10</a:t>
            </a:r>
            <a:endParaRPr b="0" i="0" sz="1350" u="none" cap="none" strike="noStrike"/>
          </a:p>
        </p:txBody>
      </p:sp>
      <p:sp>
        <p:nvSpPr>
          <p:cNvPr id="129" name="Google Shape;129;p16"/>
          <p:cNvSpPr/>
          <p:nvPr/>
        </p:nvSpPr>
        <p:spPr>
          <a:xfrm>
            <a:off x="6010037" y="4141351"/>
            <a:ext cx="80967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Mevcut UYAP SQL arama</a:t>
            </a:r>
            <a:endParaRPr b="0" i="0" sz="115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6010037" y="4597598"/>
            <a:ext cx="8096726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850"/>
              <a:buFont typeface="Unbounded"/>
              <a:buNone/>
            </a:pPr>
            <a:r>
              <a:rPr b="0" i="0" lang="en-US" sz="3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45</a:t>
            </a:r>
            <a:endParaRPr b="0" i="0" sz="3850" u="none" cap="none" strike="noStrike"/>
          </a:p>
        </p:txBody>
      </p:sp>
      <p:sp>
        <p:nvSpPr>
          <p:cNvPr id="131" name="Google Shape;131;p16"/>
          <p:cNvSpPr/>
          <p:nvPr/>
        </p:nvSpPr>
        <p:spPr>
          <a:xfrm>
            <a:off x="9178290" y="5236131"/>
            <a:ext cx="1760101" cy="21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Dakika</a:t>
            </a:r>
            <a:endParaRPr b="0" i="0" sz="135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6010037" y="5512118"/>
            <a:ext cx="80967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Ortalama emsal bulma süresi</a:t>
            </a:r>
            <a:endParaRPr b="0" i="0" sz="1150" u="none" cap="none" strike="noStrike"/>
          </a:p>
        </p:txBody>
      </p:sp>
      <p:sp>
        <p:nvSpPr>
          <p:cNvPr id="133" name="Google Shape;133;p16"/>
          <p:cNvSpPr/>
          <p:nvPr/>
        </p:nvSpPr>
        <p:spPr>
          <a:xfrm>
            <a:off x="6010037" y="5968365"/>
            <a:ext cx="8096726" cy="49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3850"/>
              <a:buFont typeface="Unbounded"/>
              <a:buNone/>
            </a:pPr>
            <a:r>
              <a:rPr b="0" i="0" lang="en-US" sz="3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%62</a:t>
            </a:r>
            <a:endParaRPr b="0" i="0" sz="3850" u="none" cap="none" strike="noStrike"/>
          </a:p>
        </p:txBody>
      </p:sp>
      <p:sp>
        <p:nvSpPr>
          <p:cNvPr id="134" name="Google Shape;134;p16"/>
          <p:cNvSpPr/>
          <p:nvPr/>
        </p:nvSpPr>
        <p:spPr>
          <a:xfrm>
            <a:off x="9178290" y="6606897"/>
            <a:ext cx="1760101" cy="21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Unbounded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Recall@10</a:t>
            </a:r>
            <a:endParaRPr b="0" i="0" sz="135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6010037" y="6882884"/>
            <a:ext cx="80967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Finetune edilmemiş BERTurk</a:t>
            </a:r>
            <a:endParaRPr b="0" i="0" sz="115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6010037" y="7182564"/>
            <a:ext cx="8096726" cy="583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Mevcut UYAP'ın anahtar kelime tabanlı araması %42 Recall@10 seviyesinde kalmaktadır. Genel amaçlı BERTurk modeli bile bu değeri %62'ye taşımaktadır; ancak hukuk alanına özel ince ayar yapılmadığı sürece yeterli değildir. </a:t>
            </a:r>
            <a:r>
              <a:rPr b="1" i="0" lang="en-US" sz="11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Temel hedefimiz: alan-özgü model ile Recall@10 ≥ %75.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759262" y="601980"/>
            <a:ext cx="2266950" cy="394692"/>
          </a:xfrm>
          <a:prstGeom prst="roundRect">
            <a:avLst>
              <a:gd fmla="val 6596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889397" y="666988"/>
            <a:ext cx="2006679" cy="26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85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350"/>
              <a:buFont typeface="Cabin"/>
              <a:buNone/>
            </a:pPr>
            <a:r>
              <a:rPr b="0" i="0" lang="en-US" sz="13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MODEL KARŞILAŞTIRMASI</a:t>
            </a:r>
            <a:endParaRPr b="0" i="0" sz="135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759262" y="1075253"/>
            <a:ext cx="13111877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Unbounded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Model Performans Karşılaştırması: Recall@10</a:t>
            </a:r>
            <a:endParaRPr b="0" i="0" sz="4000" u="none" cap="none" strike="noStrike"/>
          </a:p>
        </p:txBody>
      </p:sp>
      <p:pic>
        <p:nvPicPr>
          <p:cNvPr descr="preencoded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262" y="2867025"/>
            <a:ext cx="6291382" cy="353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7587377" y="2842498"/>
            <a:ext cx="255210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Unbounded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Temel Bulgular</a:t>
            </a:r>
            <a:endParaRPr b="0" i="0" sz="200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7587377" y="3358158"/>
            <a:ext cx="6291382" cy="992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b="0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Semantik arama olmadan doğru emsal bulmak mümkün değildir. Mevcut UYAP sistemi, en basit TF-IDF modelinden bile daha düşük performans sergilemektedir.</a:t>
            </a:r>
            <a:endParaRPr b="0" i="0" sz="170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7587377" y="4527352"/>
            <a:ext cx="6291382" cy="1460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b="1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TF-IDF:</a:t>
            </a:r>
            <a:r>
              <a:rPr b="0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Anlamsal ilişki kuramaz, yalnızca kelime eşleşmesi</a:t>
            </a:r>
            <a:endParaRPr b="0" i="0" sz="1700" u="none" cap="none" strike="noStrike"/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b="1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BERTurk:</a:t>
            </a:r>
            <a:r>
              <a:rPr b="0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Genel Türkçe modeli; hukuk terminolojisinde yetersiz</a:t>
            </a:r>
            <a:endParaRPr b="0" i="0" sz="1700" u="none" cap="none" strike="noStrike"/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00"/>
              <a:buFont typeface="Cabin"/>
              <a:buNone/>
            </a:pPr>
            <a:r>
              <a:rPr b="1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HukukBERT (Hedef):</a:t>
            </a:r>
            <a:r>
              <a:rPr b="0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500K+ Yargıtay kararı ile finetuning → </a:t>
            </a:r>
            <a:r>
              <a:rPr b="1" i="0" lang="en-US" sz="17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%78 Recall</a:t>
            </a:r>
            <a:endParaRPr b="0" i="0" sz="170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7587377" y="6208871"/>
            <a:ext cx="6291382" cy="1197650"/>
          </a:xfrm>
          <a:prstGeom prst="roundRect">
            <a:avLst>
              <a:gd fmla="val 2717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4309" y="6526292"/>
            <a:ext cx="271105" cy="21693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8292346" y="6459617"/>
            <a:ext cx="5369481" cy="661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bin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Açık kaynaklı kütüphaneler: Hugging Face Transformers, PM4Py, Scikit-learn, Milvus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837724" y="1009293"/>
            <a:ext cx="942499" cy="465058"/>
          </a:xfrm>
          <a:prstGeom prst="roundRect">
            <a:avLst>
              <a:gd fmla="val 6177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988933" y="1088708"/>
            <a:ext cx="640080" cy="306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500"/>
              <a:buFont typeface="Cabin"/>
              <a:buNone/>
            </a:pPr>
            <a:r>
              <a:rPr b="0" i="0" lang="en-US" sz="150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MIMARI</a:t>
            </a:r>
            <a:endParaRPr b="0" i="0" sz="1500" u="none" cap="none" strike="noStrike"/>
          </a:p>
        </p:txBody>
      </p:sp>
      <p:sp>
        <p:nvSpPr>
          <p:cNvPr id="159" name="Google Shape;159;p18"/>
          <p:cNvSpPr/>
          <p:nvPr/>
        </p:nvSpPr>
        <p:spPr>
          <a:xfrm>
            <a:off x="837724" y="1570077"/>
            <a:ext cx="11892439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UYAP 2.0: Katmanlı Sistem Mimarisi</a:t>
            </a:r>
            <a:endParaRPr b="0" i="0" sz="440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837724" y="2633067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85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837724" y="3009424"/>
            <a:ext cx="4158734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837724" y="319004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Veri Katmanı</a:t>
            </a:r>
            <a:endParaRPr b="0" i="0" sz="2200" u="none" cap="none" strike="noStrike"/>
          </a:p>
        </p:txBody>
      </p:sp>
      <p:sp>
        <p:nvSpPr>
          <p:cNvPr id="163" name="Google Shape;163;p18"/>
          <p:cNvSpPr/>
          <p:nvPr/>
        </p:nvSpPr>
        <p:spPr>
          <a:xfrm>
            <a:off x="837724" y="3685580"/>
            <a:ext cx="41587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Anonimleştirilmiş UYAP verisi + Yargıtay kararları + mevzuat</a:t>
            </a:r>
            <a:endParaRPr b="0" i="0" sz="1850" u="none" cap="none" strike="noStrike"/>
          </a:p>
        </p:txBody>
      </p:sp>
      <p:sp>
        <p:nvSpPr>
          <p:cNvPr id="164" name="Google Shape;164;p18"/>
          <p:cNvSpPr/>
          <p:nvPr/>
        </p:nvSpPr>
        <p:spPr>
          <a:xfrm>
            <a:off x="5235773" y="2633067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850" u="none" cap="none" strike="noStrike"/>
          </a:p>
        </p:txBody>
      </p:sp>
      <p:sp>
        <p:nvSpPr>
          <p:cNvPr id="165" name="Google Shape;165;p18"/>
          <p:cNvSpPr/>
          <p:nvPr/>
        </p:nvSpPr>
        <p:spPr>
          <a:xfrm>
            <a:off x="5235773" y="3009424"/>
            <a:ext cx="4158734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235773" y="3190042"/>
            <a:ext cx="4158734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NLP / Örüntü Tanıma Katmanı</a:t>
            </a:r>
            <a:endParaRPr b="0" i="0" sz="220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5235773" y="4037528"/>
            <a:ext cx="4158734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OCR, Türkçe Legal NER, paragraf bölütleme, HukukBERT</a:t>
            </a:r>
            <a:endParaRPr b="0" i="0" sz="185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9633823" y="2633067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850" u="none" cap="none" strike="noStrike"/>
          </a:p>
        </p:txBody>
      </p:sp>
      <p:sp>
        <p:nvSpPr>
          <p:cNvPr id="169" name="Google Shape;169;p18"/>
          <p:cNvSpPr/>
          <p:nvPr/>
        </p:nvSpPr>
        <p:spPr>
          <a:xfrm>
            <a:off x="9633823" y="3009424"/>
            <a:ext cx="4158853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9633823" y="3190042"/>
            <a:ext cx="4158853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Temsil ve İndeks Katmanı</a:t>
            </a:r>
            <a:endParaRPr b="0" i="0" sz="220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9633823" y="4037528"/>
            <a:ext cx="41588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Embedding'ler Milvus vektör DB'de, ilişkiler Neo4j bilgi grafiğinde</a:t>
            </a:r>
            <a:endParaRPr b="0" i="0" sz="185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837724" y="5222319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b="0" i="0" sz="1850" u="none" cap="none" strike="noStrike"/>
          </a:p>
        </p:txBody>
      </p:sp>
      <p:sp>
        <p:nvSpPr>
          <p:cNvPr id="173" name="Google Shape;173;p18"/>
          <p:cNvSpPr/>
          <p:nvPr/>
        </p:nvSpPr>
        <p:spPr>
          <a:xfrm>
            <a:off x="837724" y="5598676"/>
            <a:ext cx="6357818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837724" y="5779294"/>
            <a:ext cx="451389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RAG Karar Destek Katmanı</a:t>
            </a:r>
            <a:endParaRPr b="0" i="0" sz="2200" u="none" cap="none" strike="noStrike"/>
          </a:p>
        </p:txBody>
      </p:sp>
      <p:sp>
        <p:nvSpPr>
          <p:cNvPr id="175" name="Google Shape;175;p18"/>
          <p:cNvSpPr/>
          <p:nvPr/>
        </p:nvSpPr>
        <p:spPr>
          <a:xfrm>
            <a:off x="837724" y="6274832"/>
            <a:ext cx="635781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Sorgu → embedding → vektör arama → finetuned LLM → kaynaklı yanıt</a:t>
            </a:r>
            <a:endParaRPr b="0" i="0" sz="1850" u="none" cap="none" strike="noStrike"/>
          </a:p>
        </p:txBody>
      </p:sp>
      <p:sp>
        <p:nvSpPr>
          <p:cNvPr id="176" name="Google Shape;176;p18"/>
          <p:cNvSpPr/>
          <p:nvPr/>
        </p:nvSpPr>
        <p:spPr>
          <a:xfrm>
            <a:off x="7434858" y="5222319"/>
            <a:ext cx="478750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05</a:t>
            </a:r>
            <a:endParaRPr b="0" i="0" sz="1850" u="none" cap="none" strike="noStrike"/>
          </a:p>
        </p:txBody>
      </p:sp>
      <p:sp>
        <p:nvSpPr>
          <p:cNvPr id="177" name="Google Shape;177;p18"/>
          <p:cNvSpPr/>
          <p:nvPr/>
        </p:nvSpPr>
        <p:spPr>
          <a:xfrm>
            <a:off x="7434858" y="5598676"/>
            <a:ext cx="6357818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434858" y="5779294"/>
            <a:ext cx="437769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Prosedürel Uyum Muhafızı</a:t>
            </a:r>
            <a:endParaRPr b="0" i="0" sz="2200" u="none" cap="none" strike="noStrike"/>
          </a:p>
        </p:txBody>
      </p:sp>
      <p:sp>
        <p:nvSpPr>
          <p:cNvPr id="179" name="Google Shape;179;p18"/>
          <p:cNvSpPr/>
          <p:nvPr/>
        </p:nvSpPr>
        <p:spPr>
          <a:xfrm>
            <a:off x="7434858" y="6274832"/>
            <a:ext cx="635781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Kural motoru + Süreç madenciliği + Anomali tespiti → 3 seviyeli risk aksiyonu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/>
          <p:nvPr/>
        </p:nvSpPr>
        <p:spPr>
          <a:xfrm>
            <a:off x="6284952" y="636508"/>
            <a:ext cx="1384459" cy="421838"/>
          </a:xfrm>
          <a:prstGeom prst="roundRect">
            <a:avLst>
              <a:gd fmla="val 6490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6421755" y="704850"/>
            <a:ext cx="1110853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ÖZGÜN KATKI</a:t>
            </a:r>
            <a:endParaRPr b="0" i="0" sz="140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6284952" y="1145262"/>
            <a:ext cx="7546896" cy="1342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Unbounded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Prosedürel Uyum Muhafızı</a:t>
            </a:r>
            <a:endParaRPr b="0" i="0" sz="420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6284952" y="2813447"/>
            <a:ext cx="7546896" cy="356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Sistemin en yenilikçi bileşeni: usul hatalarını </a:t>
            </a:r>
            <a:r>
              <a:rPr b="1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proaktif olarak engelleyen</a:t>
            </a: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modül.</a:t>
            </a:r>
            <a:endParaRPr b="0" i="0" sz="1750" u="none" cap="none" strike="noStrike"/>
          </a:p>
        </p:txBody>
      </p:sp>
      <p:sp>
        <p:nvSpPr>
          <p:cNvPr id="190" name="Google Shape;190;p19"/>
          <p:cNvSpPr/>
          <p:nvPr/>
        </p:nvSpPr>
        <p:spPr>
          <a:xfrm>
            <a:off x="6284952" y="3414355"/>
            <a:ext cx="3664744" cy="2326481"/>
          </a:xfrm>
          <a:prstGeom prst="roundRect">
            <a:avLst>
              <a:gd fmla="val 1471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6513076" y="3642479"/>
            <a:ext cx="3208496" cy="670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Kural Motoru (Drools)</a:t>
            </a:r>
            <a:endParaRPr b="0" i="0" sz="2100" u="none" cap="none" strike="noStrike"/>
          </a:p>
        </p:txBody>
      </p:sp>
      <p:sp>
        <p:nvSpPr>
          <p:cNvPr id="192" name="Google Shape;192;p19"/>
          <p:cNvSpPr/>
          <p:nvPr/>
        </p:nvSpPr>
        <p:spPr>
          <a:xfrm>
            <a:off x="6513076" y="4443651"/>
            <a:ext cx="3208496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HMK, CMK, Tebligat Kanunu'na dayalı zorunlu kontroller. Tebligat yoksa → </a:t>
            </a:r>
            <a:r>
              <a:rPr b="1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Hard Stop.</a:t>
            </a:r>
            <a:endParaRPr b="0" i="0" sz="175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10167104" y="3414355"/>
            <a:ext cx="3664744" cy="2326481"/>
          </a:xfrm>
          <a:prstGeom prst="roundRect">
            <a:avLst>
              <a:gd fmla="val 1471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10395228" y="3642479"/>
            <a:ext cx="3208496" cy="670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Süreç Madenciliği (PM4Py)</a:t>
            </a:r>
            <a:endParaRPr b="0" i="0" sz="2100" u="none" cap="none" strike="noStrike"/>
          </a:p>
        </p:txBody>
      </p:sp>
      <p:sp>
        <p:nvSpPr>
          <p:cNvPr id="195" name="Google Shape;195;p19"/>
          <p:cNvSpPr/>
          <p:nvPr/>
        </p:nvSpPr>
        <p:spPr>
          <a:xfrm>
            <a:off x="10395228" y="4443651"/>
            <a:ext cx="3208496" cy="1069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Normatif süreç modeli ile gerçek akış karşılaştırması. Sapmalar otomatik tespit edilir.</a:t>
            </a:r>
            <a:endParaRPr b="0" i="0" sz="1750" u="none" cap="none" strike="noStrike"/>
          </a:p>
        </p:txBody>
      </p:sp>
      <p:sp>
        <p:nvSpPr>
          <p:cNvPr id="196" name="Google Shape;196;p19"/>
          <p:cNvSpPr/>
          <p:nvPr/>
        </p:nvSpPr>
        <p:spPr>
          <a:xfrm>
            <a:off x="6284952" y="5958245"/>
            <a:ext cx="7546896" cy="1634728"/>
          </a:xfrm>
          <a:prstGeom prst="roundRect">
            <a:avLst>
              <a:gd fmla="val 2094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513076" y="6186368"/>
            <a:ext cx="2684145" cy="335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100"/>
              <a:buFont typeface="Unbounded"/>
              <a:buNone/>
            </a:pPr>
            <a:r>
              <a:rPr b="0" i="0" lang="en-US" sz="21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Anomali Tespiti</a:t>
            </a:r>
            <a:endParaRPr b="0" i="0" sz="2100" u="none" cap="none" strike="noStrike"/>
          </a:p>
        </p:txBody>
      </p:sp>
      <p:sp>
        <p:nvSpPr>
          <p:cNvPr id="198" name="Google Shape;198;p19"/>
          <p:cNvSpPr/>
          <p:nvPr/>
        </p:nvSpPr>
        <p:spPr>
          <a:xfrm>
            <a:off x="6513076" y="6652141"/>
            <a:ext cx="7090648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750"/>
              <a:buFont typeface="Cabin"/>
              <a:buNone/>
            </a:pPr>
            <a:r>
              <a:rPr b="0" i="0" lang="en-US" sz="17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Isolation Forest + LSTM-Autoencoder ile olağandışı işlem süreleri ve sıra hataları yakalanır.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1364099" y="524589"/>
            <a:ext cx="1209318" cy="331946"/>
          </a:xfrm>
          <a:prstGeom prst="roundRect">
            <a:avLst>
              <a:gd fmla="val 6626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1481614" y="587097"/>
            <a:ext cx="974288" cy="206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150"/>
              <a:buFont typeface="Cabin"/>
              <a:buNone/>
            </a:pPr>
            <a:r>
              <a:rPr b="0" i="0" lang="en-US" sz="115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RISK YÖNETIMI</a:t>
            </a:r>
            <a:endParaRPr b="0" i="0" sz="115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1364099" y="912614"/>
            <a:ext cx="8015526" cy="538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50"/>
              <a:buFont typeface="Unbounded"/>
              <a:buNone/>
            </a:pPr>
            <a:r>
              <a:rPr b="0" i="0" lang="en-US" sz="33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Üç Seviyeli Risk Aksiyon Sistemi</a:t>
            </a:r>
            <a:endParaRPr b="0" i="0" sz="3350" u="none" cap="none" strike="noStrike"/>
          </a:p>
        </p:txBody>
      </p:sp>
      <p:pic>
        <p:nvPicPr>
          <p:cNvPr descr="preencoded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099" y="1819751"/>
            <a:ext cx="5727502" cy="5727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099" y="1819751"/>
            <a:ext cx="5727502" cy="5727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/>
          <p:nvPr/>
        </p:nvSpPr>
        <p:spPr>
          <a:xfrm>
            <a:off x="7546181" y="3171468"/>
            <a:ext cx="2156103" cy="269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Unbounded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İşleyiş Prensibi</a:t>
            </a:r>
            <a:endParaRPr b="0" i="0" sz="165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7546181" y="3581162"/>
            <a:ext cx="5727502" cy="776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Her prosedürel işlem risk skoru ile değerlendirilir. Sistem yalnızca uyarı vermekle kalmaz; yüksek riskte işlem akışını </a:t>
            </a: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otomatik olarak durdurur</a:t>
            </a: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ve hâkimden gerekçeli onay talep eder.</a:t>
            </a:r>
            <a:endParaRPr b="0" i="0" sz="140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7546181" y="4483537"/>
            <a:ext cx="5727502" cy="874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Tebligat yapılmadan duruşma açılamaz → </a:t>
            </a: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Hard Stop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Süre ihlali tespit edilirse → </a:t>
            </a: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Soft Alert + gerekçe zorunluluğu</a:t>
            </a:r>
            <a:endParaRPr b="0" i="0" sz="1400" u="none" cap="none" strike="noStrike"/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Çelişkili karar deseni → </a:t>
            </a:r>
            <a:r>
              <a:rPr b="1" i="0" lang="en-US" sz="14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Anomali raporu + insan denetimi</a:t>
            </a:r>
            <a:endParaRPr b="0" i="0" sz="1400" u="none" cap="none" strike="noStrike"/>
          </a:p>
        </p:txBody>
      </p:sp>
      <p:sp>
        <p:nvSpPr>
          <p:cNvPr id="212" name="Google Shape;212;p20"/>
          <p:cNvSpPr/>
          <p:nvPr/>
        </p:nvSpPr>
        <p:spPr>
          <a:xfrm>
            <a:off x="7546181" y="5515570"/>
            <a:ext cx="5727502" cy="662464"/>
          </a:xfrm>
          <a:prstGeom prst="roundRect">
            <a:avLst>
              <a:gd fmla="val 4150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9418" y="5774650"/>
            <a:ext cx="229076" cy="18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/>
          <p:nvPr/>
        </p:nvSpPr>
        <p:spPr>
          <a:xfrm>
            <a:off x="8141732" y="5701546"/>
            <a:ext cx="4948714" cy="258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"Bu sistem sadece öneri vermez, hatalı yargı sürecini durdurur."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878324" y="610195"/>
            <a:ext cx="1292781" cy="365998"/>
          </a:xfrm>
          <a:prstGeom prst="roundRect">
            <a:avLst>
              <a:gd fmla="val 6500" name="adj"/>
            </a:avLst>
          </a:prstGeom>
          <a:noFill/>
          <a:ln cap="flat" cmpd="sng" w="9525">
            <a:solidFill>
              <a:srgbClr val="0A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1004768" y="677228"/>
            <a:ext cx="1039892" cy="23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200"/>
              <a:buFont typeface="Cabin"/>
              <a:buNone/>
            </a:pPr>
            <a:r>
              <a:rPr b="0" i="0" lang="en-US" sz="120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PROJE TAKVIMI</a:t>
            </a:r>
            <a:endParaRPr b="0" i="0" sz="1200" u="none" cap="none" strike="noStrike"/>
          </a:p>
        </p:txBody>
      </p:sp>
      <p:sp>
        <p:nvSpPr>
          <p:cNvPr id="222" name="Google Shape;222;p21"/>
          <p:cNvSpPr/>
          <p:nvPr/>
        </p:nvSpPr>
        <p:spPr>
          <a:xfrm>
            <a:off x="878324" y="1041797"/>
            <a:ext cx="6911102" cy="583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50"/>
              <a:buFont typeface="Unbounded"/>
              <a:buNone/>
            </a:pPr>
            <a:r>
              <a:rPr b="0" i="0" lang="en-US" sz="36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12 Aylık Ar-Ge Yol Haritası</a:t>
            </a:r>
            <a:endParaRPr b="0" i="0" sz="3650" u="none" cap="none" strike="noStrike"/>
          </a:p>
        </p:txBody>
      </p:sp>
      <p:sp>
        <p:nvSpPr>
          <p:cNvPr id="223" name="Google Shape;223;p21"/>
          <p:cNvSpPr/>
          <p:nvPr/>
        </p:nvSpPr>
        <p:spPr>
          <a:xfrm>
            <a:off x="7303770" y="1871067"/>
            <a:ext cx="22860" cy="5748218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520458" y="2082641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7092196" y="1871067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7175302" y="1919168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2200" u="none" cap="none" strike="noStrike"/>
          </a:p>
        </p:txBody>
      </p:sp>
      <p:sp>
        <p:nvSpPr>
          <p:cNvPr id="227" name="Google Shape;227;p21"/>
          <p:cNvSpPr/>
          <p:nvPr/>
        </p:nvSpPr>
        <p:spPr>
          <a:xfrm>
            <a:off x="3991927" y="1939171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1–3</a:t>
            </a:r>
            <a:endParaRPr b="0" i="0" sz="1800" u="none" cap="none" strike="noStrike"/>
          </a:p>
        </p:txBody>
      </p:sp>
      <p:sp>
        <p:nvSpPr>
          <p:cNvPr id="228" name="Google Shape;228;p21"/>
          <p:cNvSpPr/>
          <p:nvPr/>
        </p:nvSpPr>
        <p:spPr>
          <a:xfrm>
            <a:off x="878324" y="2329101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Veri Hazırlığı &amp; KVKK Uyumu: Olay logları, k-anonimleştirme pipeline'ı</a:t>
            </a:r>
            <a:endParaRPr b="0" i="0" sz="1550" u="none" cap="none" strike="noStrike"/>
          </a:p>
        </p:txBody>
      </p:sp>
      <p:sp>
        <p:nvSpPr>
          <p:cNvPr id="229" name="Google Shape;229;p21"/>
          <p:cNvSpPr/>
          <p:nvPr/>
        </p:nvSpPr>
        <p:spPr>
          <a:xfrm>
            <a:off x="7515344" y="3203734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7092196" y="2992160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7175302" y="3040261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2200" u="none" cap="none" strike="noStrike"/>
          </a:p>
        </p:txBody>
      </p:sp>
      <p:sp>
        <p:nvSpPr>
          <p:cNvPr id="232" name="Google Shape;232;p21"/>
          <p:cNvSpPr/>
          <p:nvPr/>
        </p:nvSpPr>
        <p:spPr>
          <a:xfrm>
            <a:off x="8306276" y="3060263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2–5</a:t>
            </a:r>
            <a:endParaRPr b="0" i="0" sz="1800" u="none" cap="none" strike="noStrike"/>
          </a:p>
        </p:txBody>
      </p:sp>
      <p:sp>
        <p:nvSpPr>
          <p:cNvPr id="233" name="Google Shape;233;p21"/>
          <p:cNvSpPr/>
          <p:nvPr/>
        </p:nvSpPr>
        <p:spPr>
          <a:xfrm>
            <a:off x="8306276" y="3450193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HukukBERT Geliştirme: 500K+ Yargıtay kararı ile finetuning, NER ve sınıflandırma</a:t>
            </a:r>
            <a:endParaRPr b="0" i="0" sz="1550" u="none" cap="none" strike="noStrike"/>
          </a:p>
        </p:txBody>
      </p:sp>
      <p:sp>
        <p:nvSpPr>
          <p:cNvPr id="234" name="Google Shape;234;p21"/>
          <p:cNvSpPr/>
          <p:nvPr/>
        </p:nvSpPr>
        <p:spPr>
          <a:xfrm>
            <a:off x="6520458" y="4194810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7092196" y="3983236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7175302" y="4031337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2200" u="none" cap="none" strike="noStrike"/>
          </a:p>
        </p:txBody>
      </p:sp>
      <p:sp>
        <p:nvSpPr>
          <p:cNvPr id="237" name="Google Shape;237;p21"/>
          <p:cNvSpPr/>
          <p:nvPr/>
        </p:nvSpPr>
        <p:spPr>
          <a:xfrm>
            <a:off x="3991927" y="4051340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4–7</a:t>
            </a:r>
            <a:endParaRPr b="0" i="0" sz="1800" u="none" cap="none" strike="noStrike"/>
          </a:p>
        </p:txBody>
      </p:sp>
      <p:sp>
        <p:nvSpPr>
          <p:cNvPr id="238" name="Google Shape;238;p21"/>
          <p:cNvSpPr/>
          <p:nvPr/>
        </p:nvSpPr>
        <p:spPr>
          <a:xfrm>
            <a:off x="878324" y="4441269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RAG Karar Destek Hattı: Milvus vektör DB, Llama-3-8B instruction tuning, XAI entegrasyonu</a:t>
            </a:r>
            <a:endParaRPr b="0" i="0" sz="1550" u="none" cap="none" strike="noStrike"/>
          </a:p>
        </p:txBody>
      </p:sp>
      <p:sp>
        <p:nvSpPr>
          <p:cNvPr id="239" name="Google Shape;239;p21"/>
          <p:cNvSpPr/>
          <p:nvPr/>
        </p:nvSpPr>
        <p:spPr>
          <a:xfrm>
            <a:off x="7515344" y="5185886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7092196" y="4974312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7175302" y="5022413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2200" u="none" cap="none" strike="noStrike"/>
          </a:p>
        </p:txBody>
      </p:sp>
      <p:sp>
        <p:nvSpPr>
          <p:cNvPr id="242" name="Google Shape;242;p21"/>
          <p:cNvSpPr/>
          <p:nvPr/>
        </p:nvSpPr>
        <p:spPr>
          <a:xfrm>
            <a:off x="8306276" y="5042416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5–9</a:t>
            </a:r>
            <a:endParaRPr b="0" i="0" sz="1800" u="none" cap="none" strike="noStrike"/>
          </a:p>
        </p:txBody>
      </p:sp>
      <p:sp>
        <p:nvSpPr>
          <p:cNvPr id="243" name="Google Shape;243;p21"/>
          <p:cNvSpPr/>
          <p:nvPr/>
        </p:nvSpPr>
        <p:spPr>
          <a:xfrm>
            <a:off x="8306276" y="5432346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Prosedürel Uyum Muhafızı: Kural kataloğu, PM4Py süreç modelleri, anomali modeli eğitimi</a:t>
            </a:r>
            <a:endParaRPr b="0" i="0" sz="1550" u="none" cap="none" strike="noStrike"/>
          </a:p>
        </p:txBody>
      </p:sp>
      <p:sp>
        <p:nvSpPr>
          <p:cNvPr id="244" name="Google Shape;244;p21"/>
          <p:cNvSpPr/>
          <p:nvPr/>
        </p:nvSpPr>
        <p:spPr>
          <a:xfrm>
            <a:off x="6520458" y="6176963"/>
            <a:ext cx="594598" cy="22860"/>
          </a:xfrm>
          <a:prstGeom prst="roundRect">
            <a:avLst>
              <a:gd fmla="val 130077" name="adj"/>
            </a:avLst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7092196" y="5965388"/>
            <a:ext cx="446008" cy="446008"/>
          </a:xfrm>
          <a:prstGeom prst="roundRect">
            <a:avLst>
              <a:gd fmla="val 666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7175302" y="6013490"/>
            <a:ext cx="279797" cy="34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endParaRPr b="0" i="0" sz="2200" u="none" cap="none" strike="noStrike"/>
          </a:p>
        </p:txBody>
      </p:sp>
      <p:sp>
        <p:nvSpPr>
          <p:cNvPr id="247" name="Google Shape;247;p21"/>
          <p:cNvSpPr/>
          <p:nvPr/>
        </p:nvSpPr>
        <p:spPr>
          <a:xfrm>
            <a:off x="3991927" y="6033492"/>
            <a:ext cx="2332196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Ay 10–12</a:t>
            </a:r>
            <a:endParaRPr b="0" i="0" sz="1800" u="none" cap="none" strike="noStrike"/>
          </a:p>
        </p:txBody>
      </p:sp>
      <p:sp>
        <p:nvSpPr>
          <p:cNvPr id="248" name="Google Shape;248;p21"/>
          <p:cNvSpPr/>
          <p:nvPr/>
        </p:nvSpPr>
        <p:spPr>
          <a:xfrm>
            <a:off x="878324" y="6423422"/>
            <a:ext cx="5445800" cy="579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16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Pilot Uygulama: İcra dairelerinde randomize kontrollü deney, KPI değerlendirmesi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756880" y="575667"/>
            <a:ext cx="1869162" cy="359212"/>
          </a:xfrm>
          <a:prstGeom prst="roundRect">
            <a:avLst>
              <a:gd fmla="val 6747" name="adj"/>
            </a:avLst>
          </a:prstGeom>
          <a:solidFill>
            <a:srgbClr val="054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877967" y="636151"/>
            <a:ext cx="1626989" cy="23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250"/>
              <a:buFont typeface="Cabin"/>
              <a:buNone/>
            </a:pPr>
            <a:r>
              <a:rPr b="0" i="0" lang="en-US" sz="12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BEKLENEN SONUÇLAR</a:t>
            </a:r>
            <a:endParaRPr b="0" i="0" sz="1250" u="none" cap="none" strike="noStrike"/>
          </a:p>
        </p:txBody>
      </p:sp>
      <p:sp>
        <p:nvSpPr>
          <p:cNvPr id="256" name="Google Shape;256;p22"/>
          <p:cNvSpPr/>
          <p:nvPr/>
        </p:nvSpPr>
        <p:spPr>
          <a:xfrm>
            <a:off x="756880" y="1002983"/>
            <a:ext cx="7868483" cy="59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Unbounded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Hedeflenen Etki ve Sonuçlar</a:t>
            </a:r>
            <a:endParaRPr b="0" i="0" sz="3700" u="none" cap="none" strike="noStrike"/>
          </a:p>
        </p:txBody>
      </p:sp>
      <p:sp>
        <p:nvSpPr>
          <p:cNvPr id="257" name="Google Shape;257;p22"/>
          <p:cNvSpPr/>
          <p:nvPr/>
        </p:nvSpPr>
        <p:spPr>
          <a:xfrm>
            <a:off x="756880" y="1953697"/>
            <a:ext cx="6451759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%75</a:t>
            </a:r>
            <a:endParaRPr b="0" i="0" sz="5200" u="none" cap="none" strike="noStrike"/>
          </a:p>
        </p:txBody>
      </p:sp>
      <p:sp>
        <p:nvSpPr>
          <p:cNvPr id="258" name="Google Shape;258;p22"/>
          <p:cNvSpPr/>
          <p:nvPr/>
        </p:nvSpPr>
        <p:spPr>
          <a:xfrm>
            <a:off x="2785705" y="2848928"/>
            <a:ext cx="2394109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Recall@10 Hedefi</a:t>
            </a:r>
            <a:endParaRPr b="0" i="0" sz="1850" u="none" cap="none" strike="noStrike"/>
          </a:p>
        </p:txBody>
      </p:sp>
      <p:sp>
        <p:nvSpPr>
          <p:cNvPr id="259" name="Google Shape;259;p22"/>
          <p:cNvSpPr/>
          <p:nvPr/>
        </p:nvSpPr>
        <p:spPr>
          <a:xfrm>
            <a:off x="756880" y="3248144"/>
            <a:ext cx="6451759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Semantik arama performansı (mevcut: %42)</a:t>
            </a:r>
            <a:endParaRPr b="0" i="0" sz="1550" u="none" cap="none" strike="noStrike"/>
          </a:p>
        </p:txBody>
      </p:sp>
      <p:sp>
        <p:nvSpPr>
          <p:cNvPr id="260" name="Google Shape;260;p22"/>
          <p:cNvSpPr/>
          <p:nvPr/>
        </p:nvSpPr>
        <p:spPr>
          <a:xfrm>
            <a:off x="7421642" y="1953697"/>
            <a:ext cx="6451878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%95</a:t>
            </a:r>
            <a:endParaRPr b="0" i="0" sz="5200" u="none" cap="none" strike="noStrike"/>
          </a:p>
        </p:txBody>
      </p:sp>
      <p:sp>
        <p:nvSpPr>
          <p:cNvPr id="261" name="Google Shape;261;p22"/>
          <p:cNvSpPr/>
          <p:nvPr/>
        </p:nvSpPr>
        <p:spPr>
          <a:xfrm>
            <a:off x="9334619" y="2848928"/>
            <a:ext cx="2625923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Anomali Yakalama</a:t>
            </a:r>
            <a:endParaRPr b="0" i="0" sz="1850" u="none" cap="none" strike="noStrike"/>
          </a:p>
        </p:txBody>
      </p:sp>
      <p:sp>
        <p:nvSpPr>
          <p:cNvPr id="262" name="Google Shape;262;p22"/>
          <p:cNvSpPr/>
          <p:nvPr/>
        </p:nvSpPr>
        <p:spPr>
          <a:xfrm>
            <a:off x="7421642" y="3248144"/>
            <a:ext cx="6451878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Prosedürel hata tespit recall oranı</a:t>
            </a:r>
            <a:endParaRPr b="0" i="0" sz="1550" u="none" cap="none" strike="noStrike"/>
          </a:p>
        </p:txBody>
      </p:sp>
      <p:sp>
        <p:nvSpPr>
          <p:cNvPr id="263" name="Google Shape;263;p22"/>
          <p:cNvSpPr/>
          <p:nvPr/>
        </p:nvSpPr>
        <p:spPr>
          <a:xfrm>
            <a:off x="756880" y="3987641"/>
            <a:ext cx="6451759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%90</a:t>
            </a:r>
            <a:endParaRPr b="0" i="0" sz="5200" u="none" cap="none" strike="noStrike"/>
          </a:p>
        </p:txBody>
      </p:sp>
      <p:sp>
        <p:nvSpPr>
          <p:cNvPr id="264" name="Google Shape;264;p22"/>
          <p:cNvSpPr/>
          <p:nvPr/>
        </p:nvSpPr>
        <p:spPr>
          <a:xfrm>
            <a:off x="2754868" y="4882872"/>
            <a:ext cx="2455664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Zaman Tasarrufu</a:t>
            </a:r>
            <a:endParaRPr b="0" i="0" sz="1850" u="none" cap="none" strike="noStrike"/>
          </a:p>
        </p:txBody>
      </p:sp>
      <p:sp>
        <p:nvSpPr>
          <p:cNvPr id="265" name="Google Shape;265;p22"/>
          <p:cNvSpPr/>
          <p:nvPr/>
        </p:nvSpPr>
        <p:spPr>
          <a:xfrm>
            <a:off x="756880" y="5282089"/>
            <a:ext cx="6451759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Emsal bulma süresi: 45 dk → 5 dk</a:t>
            </a:r>
            <a:endParaRPr b="0" i="0" sz="1550" u="none" cap="none" strike="noStrike"/>
          </a:p>
        </p:txBody>
      </p:sp>
      <p:sp>
        <p:nvSpPr>
          <p:cNvPr id="266" name="Google Shape;266;p22"/>
          <p:cNvSpPr/>
          <p:nvPr/>
        </p:nvSpPr>
        <p:spPr>
          <a:xfrm>
            <a:off x="7421642" y="3987641"/>
            <a:ext cx="6451878" cy="66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8h</a:t>
            </a:r>
            <a:endParaRPr b="0" i="0" sz="5200" u="none" cap="none" strike="noStrike"/>
          </a:p>
        </p:txBody>
      </p:sp>
      <p:sp>
        <p:nvSpPr>
          <p:cNvPr id="267" name="Google Shape;267;p22"/>
          <p:cNvSpPr/>
          <p:nvPr/>
        </p:nvSpPr>
        <p:spPr>
          <a:xfrm>
            <a:off x="9439989" y="4882872"/>
            <a:ext cx="2415183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Haftalık Tasarruf</a:t>
            </a:r>
            <a:endParaRPr b="0" i="0" sz="1850" u="none" cap="none" strike="noStrike"/>
          </a:p>
        </p:txBody>
      </p:sp>
      <p:sp>
        <p:nvSpPr>
          <p:cNvPr id="268" name="Google Shape;268;p22"/>
          <p:cNvSpPr/>
          <p:nvPr/>
        </p:nvSpPr>
        <p:spPr>
          <a:xfrm>
            <a:off x="7421642" y="5282089"/>
            <a:ext cx="6451878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Hâkim ve katip iş yükünde azalma</a:t>
            </a:r>
            <a:endParaRPr b="0" i="0" sz="1550" u="none" cap="none" strike="noStrike"/>
          </a:p>
        </p:txBody>
      </p:sp>
      <p:sp>
        <p:nvSpPr>
          <p:cNvPr id="269" name="Google Shape;269;p22"/>
          <p:cNvSpPr/>
          <p:nvPr/>
        </p:nvSpPr>
        <p:spPr>
          <a:xfrm>
            <a:off x="756880" y="5771555"/>
            <a:ext cx="13116639" cy="595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Proje, yapay zekâyı </a:t>
            </a:r>
            <a:r>
              <a:rPr b="1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karar veren değil, hatayı engelleyen</a:t>
            </a: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bir sistem olarak konumlandırır. CEPEJ ilkeleri teknik kontrollerle eşleştirilmiş; XAI ile her öneri açıklanabilir ve denetlenebilir kılınmıştır. Nihai karar her zaman hâkimde kalır.</a:t>
            </a:r>
            <a:endParaRPr b="0" i="0" sz="1550" u="none" cap="none" strike="noStrike"/>
          </a:p>
        </p:txBody>
      </p:sp>
      <p:sp>
        <p:nvSpPr>
          <p:cNvPr id="270" name="Google Shape;270;p22"/>
          <p:cNvSpPr/>
          <p:nvPr/>
        </p:nvSpPr>
        <p:spPr>
          <a:xfrm>
            <a:off x="756880" y="6609278"/>
            <a:ext cx="13116639" cy="15121"/>
          </a:xfrm>
          <a:prstGeom prst="rect">
            <a:avLst/>
          </a:prstGeom>
          <a:solidFill>
            <a:srgbClr val="CAD6DE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756880" y="6866573"/>
            <a:ext cx="13116639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1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Teşekkür:</a:t>
            </a: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Danışman Dr. Öğr. Üyesi Ali ÖZKURT, Nişantaşı Üniversitesi Yapay Zekâ Bölümü ve UYAP veri paylaşımında katkı sağlayan adalet personeli.</a:t>
            </a:r>
            <a:endParaRPr b="0" i="0" sz="1550" u="none" cap="none" strike="noStrike"/>
          </a:p>
        </p:txBody>
      </p:sp>
      <p:sp>
        <p:nvSpPr>
          <p:cNvPr id="272" name="Google Shape;272;p22"/>
          <p:cNvSpPr/>
          <p:nvPr/>
        </p:nvSpPr>
        <p:spPr>
          <a:xfrm>
            <a:off x="756880" y="7356038"/>
            <a:ext cx="13116639" cy="29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📧</a:t>
            </a: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mehmet.albayrak@nisantasi.edu.tr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