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T.C. NİŞANTAŞI ÜNİVERSİTESİ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Lisansüstü Eğitim Enstitüsü · Yapay Zekâ Yüksek Lisans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UYAP 2.0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PROSEDÜREL UYUM MUHAFIZI (PUM)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Destekli Yargı Sistemlerinin Dönüşümü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için Uluslararası Normlara Uygun Mimari Önerisi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Mehmet ALBAYRAK  ·  20251556001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Danışman: Dr. Öğr. Üyesi Sibel BORAN  ·  Eylül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GÜNDEM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14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914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ve Motivasyon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00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UYAP 2.0 + PUM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86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286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Mimarisi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971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971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PUM: Hard-Stop / Soft-Alert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657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From-Scratch Motor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914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32120" y="914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HukukBERT + Hibrit RAG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50876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600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32120" y="1600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Deneysel Sonuçlar (Simülasyon)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219456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286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32120" y="2286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Aylık Yol Haritası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288036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2971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32120" y="2971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Güvenlik, CEPEJ, RBAC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356616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657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3212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Sınırlılıklar ve Sonuç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PROBLEM VE MOTİVASYON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%23–31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Usul/şekil hatası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(dilekçe iade/red)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7315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868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 dk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1417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emsal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 süresi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7315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868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40M+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0" y="1417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İcra-iflas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yükü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E8E4D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Usul hataları ancak üst mahkemede fark ediliyor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E6F4F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71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Emsal arama anahtar kelimeye dayalı ve yavaş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E8E4D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661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XAI ve denetim izi eksikliği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E6F4F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CEPEJ / AB AI Act / KVKK uyum çerçevesi henüz kurulmamış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ÇÖZÜM: UYAP 2.0 + PUM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UYAP Core’u bozmayan, CDC + Adapter ile entegre eklenti katmanı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201168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Hard-Stop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Soft-Alert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usul güvencesi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0" y="1097280"/>
            <a:ext cx="201168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HukukBERT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Alan-özgü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legal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1B2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097280"/>
            <a:ext cx="201168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Hibrit RAG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BM25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kısıtlı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109728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1B2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0" y="1097280"/>
            <a:ext cx="201168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Motor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088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sapma skoru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(autograd yok)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8229600" cy="1188720"/>
          </a:xfrm>
          <a:prstGeom prst="roundRect">
            <a:avLst>
              <a:gd name="adj" fmla="val 4615"/>
            </a:avLst>
          </a:prstGeom>
          <a:solidFill>
            <a:srgbClr val="E6F4F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Temel İlkeler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YZ normalin dışına çıkışa izin vermemeli   • YZ kararlarda standardizasyon sağlamalı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YZ hâkim-savcı yardımcılarınca kullanılmalı   • Nihai hüküm her koşulda hâkimde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SİSTEM MİMARİSİ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2B6CB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229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777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SUNUM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0698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React+TS · Hâkim/Savcı/Katip · OAuth2/JWT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916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UYGULAMA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19385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Kafka · CDC Debezium · Adapter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553C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603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2514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YZ / ANALİTİK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28072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· NER · HukukBERT · RAG · PUM · SHAP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290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VERİ &amp; GÜVENLİK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6758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TDE · Milvus · SHA-256 Audit · RBAC · HSM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PUM: HARD-STOP / SOFT-ALERT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= 0.5·R_kural + 0.3·R_süreç + 0.2·R_anomali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1D7A4E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8872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İZİN VER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&lt; 0.3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4688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akış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Sessiz log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C05621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18872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ALERT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19202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– 0.7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24688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Uyarı göster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 devam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05156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B03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18872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STOP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(Onaylı)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9202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0.7 Emredici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4688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 durur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Gerekçeli override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105156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7B1E1A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18872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STOP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(Mutlak)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5160" y="19202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0.7 Zorunlu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95160" y="24688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 durur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yok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Human-in-the-loop: Override yalnız hâkim yetkisiyle + SHA-256 audit zinciri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NUMPY FROM-SCRATCH MOTOR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 kutu autograd yok → denetlenebilir, analitik gradyanlar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4615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 = Xw + b     ·     L = (1/n) ‖Xw + b − y‖₂²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∂L/∂w = (2/n) Xᵀ(ŷ − y)     ·     ∂L/∂b = (2/n) Σ(ŷᵢ − yᵢ)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karşılaştırması (lr=0.01, 10 epok)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0574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43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14600" y="2743200"/>
            <a:ext cx="20574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2743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2743200"/>
            <a:ext cx="20574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743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29400" y="2743200"/>
            <a:ext cx="20574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743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2057400" cy="36576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1089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14600" y="3108960"/>
            <a:ext cx="2057400" cy="36576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0" name="Text 18"/>
          <p:cNvSpPr/>
          <p:nvPr/>
        </p:nvSpPr>
        <p:spPr>
          <a:xfrm>
            <a:off x="2514600" y="31089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3108960"/>
            <a:ext cx="2057400" cy="36576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1089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85.6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29400" y="3108960"/>
            <a:ext cx="2057400" cy="36576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31089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85.6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2057400" cy="36576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4747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14600" y="3474720"/>
            <a:ext cx="2057400" cy="36576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28" name="Text 26"/>
          <p:cNvSpPr/>
          <p:nvPr/>
        </p:nvSpPr>
        <p:spPr>
          <a:xfrm>
            <a:off x="2514600" y="34747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0" y="3474720"/>
            <a:ext cx="2057400" cy="36576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34747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0" y="3474720"/>
            <a:ext cx="2057400" cy="36576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2" name="Text 30"/>
          <p:cNvSpPr/>
          <p:nvPr/>
        </p:nvSpPr>
        <p:spPr>
          <a:xfrm>
            <a:off x="6629400" y="34747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117.2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3840480"/>
            <a:ext cx="2057400" cy="36576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840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514600" y="3840480"/>
            <a:ext cx="2057400" cy="36576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36" name="Text 34"/>
          <p:cNvSpPr/>
          <p:nvPr/>
        </p:nvSpPr>
        <p:spPr>
          <a:xfrm>
            <a:off x="2514600" y="3840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0" y="3840480"/>
            <a:ext cx="2057400" cy="36576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0" y="3840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629400" y="3840480"/>
            <a:ext cx="2057400" cy="36576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40" name="Text 38"/>
          <p:cNvSpPr/>
          <p:nvPr/>
        </p:nvSpPr>
        <p:spPr>
          <a:xfrm>
            <a:off x="6629400" y="3840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111.7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lr ∈ [0.005, 0.02]  ·  SGD kısa eğitimde hızlı yakınsar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HUKUKBERT + HİBRİT RAG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S_h = α · S_dense + (1−α) · S_BM25    ·    α = 0.6 (prototip)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BM25: 0.31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+%87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1887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MRR@5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6002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21945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BM25: 0.41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6060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+%76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1887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Emsal süresi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16002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 sn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26480" y="21945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BM25: ~12 dk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6060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dramatik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8229600" cy="1280160"/>
          </a:xfrm>
          <a:prstGeom prst="roundRect">
            <a:avLst>
              <a:gd name="adj" fmla="val 4286"/>
            </a:avLst>
          </a:prstGeom>
          <a:solidFill>
            <a:srgbClr val="E6F4F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566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Kaynak yoksa cevap uydurulmaz → “yeterli kaynak bulunamadı”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Retrieved text = untrusted context (prompt injection koruması)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Citation presence + entailment kontrolü kritik iddialarda zorunlu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Halüsinasyon göstergesi: %3.8–4.2 (simülasyon)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DENEYSEL SONUÇLAR (SİMÜLASYON)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1645920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77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%95.9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685800"/>
            <a:ext cx="1645920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777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%95.3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11680" y="1325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040" y="685800"/>
            <a:ext cx="1645920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777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%95.6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49040" y="1325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685800"/>
            <a:ext cx="1645920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777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%0.9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0" y="1325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3760" y="685800"/>
            <a:ext cx="1645920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777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%98.0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223760" y="1325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Timsal Dava Karmaşıklık Matrisi (n=100: 20 ihlal, 80 uygun)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371600" y="2377440"/>
            <a:ext cx="201168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83280" y="2377440"/>
            <a:ext cx="201168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İHLAL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94960" y="2377440"/>
            <a:ext cx="201168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539496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371600" y="2834640"/>
            <a:ext cx="201168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İHLAL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383280" y="2834640"/>
            <a:ext cx="2011680" cy="457200"/>
          </a:xfrm>
          <a:prstGeom prst="rect">
            <a:avLst/>
          </a:prstGeom>
          <a:solidFill>
            <a:srgbClr val="1D7A4E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TP=19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94960" y="2834640"/>
            <a:ext cx="2011680" cy="45720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31" name="Text 29"/>
          <p:cNvSpPr/>
          <p:nvPr/>
        </p:nvSpPr>
        <p:spPr>
          <a:xfrm>
            <a:off x="539496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FN=1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371600" y="3291840"/>
            <a:ext cx="201168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137160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UYGUN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383280" y="3291840"/>
            <a:ext cx="2011680" cy="45720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FP=1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394960" y="3291840"/>
            <a:ext cx="2011680" cy="457200"/>
          </a:xfrm>
          <a:prstGeom prst="rect">
            <a:avLst/>
          </a:prstGeom>
          <a:solidFill>
            <a:srgbClr val="1D7A4E"/>
          </a:solidFill>
          <a:ln/>
        </p:spPr>
      </p:sp>
      <p:sp>
        <p:nvSpPr>
          <p:cNvPr id="37" name="Text 35"/>
          <p:cNvSpPr/>
          <p:nvPr/>
        </p:nvSpPr>
        <p:spPr>
          <a:xfrm>
            <a:off x="539496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TN=79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3931920"/>
            <a:ext cx="8229600" cy="822960"/>
          </a:xfrm>
          <a:prstGeom prst="roundRect">
            <a:avLst>
              <a:gd name="adj" fmla="val 5556"/>
            </a:avLst>
          </a:prstGeom>
          <a:solidFill>
            <a:srgbClr val="FFF5F5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069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KONTROLLÜ SİMÜLASYON — Gerçek UYAP üretim verisi kullanılmamıştır.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Metrikler prototip ortamına aittir; üretimde yeniden doğrulanmalıdır.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36 AYLIK YOL HARİTASI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2103120" cy="3200400"/>
          </a:xfrm>
          <a:prstGeom prst="roundRect">
            <a:avLst>
              <a:gd name="adj" fmla="val 3478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31520"/>
            <a:ext cx="210312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Hazırlık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1–7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 · Anonim veri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HukukBERT DAPT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+ Security Go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731520"/>
            <a:ext cx="2103120" cy="3200400"/>
          </a:xfrm>
          <a:prstGeom prst="roundRect">
            <a:avLst>
              <a:gd name="adj" fmla="val 3478"/>
            </a:avLst>
          </a:prstGeom>
          <a:solidFill>
            <a:srgbClr val="1B2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2468880" y="731520"/>
            <a:ext cx="210312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960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1280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/ Assisted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1737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6–22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194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altyapı · PUM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 ay gölge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6/12 ay KPI kapısı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731520"/>
            <a:ext cx="2103120" cy="3200400"/>
          </a:xfrm>
          <a:prstGeom prst="roundRect">
            <a:avLst>
              <a:gd name="adj" fmla="val 3478"/>
            </a:avLst>
          </a:prstGeom>
          <a:solidFill>
            <a:srgbClr val="1B2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731520"/>
            <a:ext cx="210312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960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1280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Genişleme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1737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18–30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194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panel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Gecikme optimizasyonu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QA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0" y="731520"/>
            <a:ext cx="2103120" cy="3200400"/>
          </a:xfrm>
          <a:prstGeom prst="roundRect">
            <a:avLst>
              <a:gd name="adj" fmla="val 3478"/>
            </a:avLst>
          </a:prstGeom>
          <a:solidFill>
            <a:srgbClr val="1B2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0" y="731520"/>
            <a:ext cx="210312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960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1280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Yaygınlaştırma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1737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28–36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49440" y="2194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Ulusal plan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CEPEJ / AI Act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49440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governance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41605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Burdur / Isparta / Bolu  ·  Trafik &amp; Tüketici Mahkemeleri  ·  Shadow → Assisted → Controlled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4320" y="45262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aktivite · Go/No-Go kapıları · Kill switch · Rollback zorunlu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GÜVENLİK · CEPEJ · RBAC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CEPEJ İlkeleri Eşlemesi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41148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haklar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51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4114800" cy="41148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08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Ayrımcılık yasağı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1508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audit + model kartı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4114800" cy="41148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65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Kalite &amp; güvenlik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1965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izleme · TLS/HSM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4114800" cy="41148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Şeffaflık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2423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· Citation · Audit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4114800" cy="41148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80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kontrolü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· Kill switch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640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Özeti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051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Hâkim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1051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+ gerekçe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463040"/>
            <a:ext cx="3931920" cy="41148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508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Savcı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1508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Yetkili dosya görüntüleme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1920240"/>
            <a:ext cx="3931920" cy="41148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Katip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1965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Yetkili dosya / Soft alert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2377440"/>
            <a:ext cx="3931920" cy="41148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423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Yönetici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2423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(onaylı)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2834640"/>
            <a:ext cx="3931920" cy="41148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2880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Denetçi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9224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salt okunur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· AES-256 · HSM · SHA-256 zincir · KVKK (k≥5, ε=0.1) · Kill switch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SINIRLILIKLAR VE SONUÇ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37160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Sınırlılıklar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Gerçek UYAP üretim verisi yok → dış geçerlilik için pilot zorunlu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Kural kataloğu illustrative → hukuki doğrulama ayrı süreç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İnsan faktörleri (automation bias) saha çalışması gerektirir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Bağımsız penetrasyon testi henüz yapılmamıştır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8229600" cy="1554480"/>
          </a:xfrm>
          <a:prstGeom prst="roundRect">
            <a:avLst>
              <a:gd name="adj" fmla="val 3529"/>
            </a:avLst>
          </a:prstGeom>
          <a:solidFill>
            <a:srgbClr val="E6F4F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Kurumsal Öneri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0 çalışma grubu + sınırlı shadow pilot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(Burdur / Isparta / Bolu – Trafik &amp; Tüketici)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kapıları + bağımsız test + kill switch + rollback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Kademeli genişleme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= kanıt  ·  Generation = tavsiye  ·  Anomali = olasılıksal  ·  Nihai eylem = insan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“Adalet yalnızca algoritmaların değil, vicdanların da işidir.”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TEŞEKKÜRLER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Sorularınızı bekliyorum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468880"/>
            <a:ext cx="27432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Mehmet ALBAYRAK  ·  20251556001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lawai.tr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Danışman: Dr. Öğr. Üyesi Sibel BORAN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Teşekkür: Dr. Öğr. Üyesi Ulaş VURAL · Dr. Öğr. Üyesi Ali ÖZKURT · Dr. Öğr. Üyesi Gülsüm ŞANAL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Nişantaşı Üniversitesi · Yapay Zekâ Yüksek Lisans · Eylül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UYAP 2.0 – Prosedürel Uyum Muhafızı | Tez Savunması</dc:title>
  <dc:subject>Bitirme Projesi Tez Savunması</dc:subject>
  <dc:creator>Mehmet ALBAYRAK</dc:creator>
  <cp:lastModifiedBy>Mehmet ALBAYRAK</cp:lastModifiedBy>
  <cp:revision>1</cp:revision>
  <dcterms:created xsi:type="dcterms:W3CDTF">2026-09-29T11:17:51Z</dcterms:created>
  <dcterms:modified xsi:type="dcterms:W3CDTF">2026-09-29T11:17:51Z</dcterms:modified>
</cp:coreProperties>
</file>